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3b6a5c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3b6a5c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3b6a5c9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43b6a5c9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43b6a5c9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43b6a5c9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3b6a5c9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43b6a5c9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3b6a5c93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43b6a5c93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3b6a5c93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43b6a5c93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3b6a5c93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43b6a5c93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43b6a5c93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43b6a5c93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43b6a5c9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43b6a5c9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43b6a5c93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43b6a5c93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43b6a5c93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43b6a5c93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3b6a5c93_8_0)">
  <p:cSld name="Generated (g3e43b6a5c93_8_0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SMARTFLOW SUITE</a:t>
            </a:r>
            <a:endParaRPr b="1" i="1"/>
          </a:p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3649800" y="31573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Contract Management Dashboard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894350" y="4101850"/>
            <a:ext cx="38853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By:    Rakshita Gupta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PROBLEM STATEMENT </a:t>
            </a:r>
            <a:endParaRPr b="1" i="1"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Organizations often struggle with manual contract handling, scattered records, missed expiry dates, and lack of centralized monitoring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Traditional contract management processes are time-consuming, difficult to track, and prone to errors. Businesses require a digital platform that can securely manage agreements, monitor contract status, visualize analytics, and simplify document handling through an interactive dashboard.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1297500" y="2738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OBJECTIVES </a:t>
            </a:r>
            <a:endParaRPr b="1" i="1"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1393200" y="868075"/>
            <a:ext cx="5874900" cy="3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• To develop a centralized contract management platform</a:t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• To simplify agreement tracking and monitoring</a:t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• To provide contract analytics visualization</a:t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• To implement secure authentication and access control</a:t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• To support PDF and document uploads</a:t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• To create a responsive and modern enterprise dashb</a:t>
            </a:r>
            <a:r>
              <a:rPr lang="en" sz="1225"/>
              <a:t>oard</a:t>
            </a:r>
            <a:endParaRPr sz="12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1213575" y="118000"/>
            <a:ext cx="70389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FEATURES </a:t>
            </a:r>
            <a:endParaRPr b="1" i="1"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1213575" y="708500"/>
            <a:ext cx="7038900" cy="4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Secure Login Authentication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Role-Based Access System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Add / Delete / Manage Agreements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Contract Status Tracking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PDF Contract Upload Support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Analytics Dashboard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Revenue Visualization Charts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Search Functionality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Expiry Alerts &amp; Notifications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Export Report Feature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Dark / Light Theme Toggle</a:t>
            </a:r>
            <a:endParaRPr sz="11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25"/>
              <a:t>• Fully Responsive UI</a:t>
            </a:r>
            <a:endParaRPr sz="10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3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1052550" y="113325"/>
            <a:ext cx="70389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 </a:t>
            </a:r>
            <a:endParaRPr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1157325" y="682300"/>
            <a:ext cx="6710100" cy="43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FRONTEND                                                                                                         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HTML5               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CSS3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Bootstrap 5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JavaScript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BACKEND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Python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Flask Framework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DATABASE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SQLite3                  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LIBRARIES &amp; TOOLS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Chart.js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Git &amp; GitHub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/>
              <a:t>• Render Deployment</a:t>
            </a:r>
            <a:endParaRPr sz="10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12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0500"/>
            <a:ext cx="952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0"/>
            <a:ext cx="76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52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295400" y="390525"/>
            <a:ext cx="70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 b="1"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0" name="Google Shape;170;p19"/>
          <p:cNvGrpSpPr/>
          <p:nvPr/>
        </p:nvGrpSpPr>
        <p:grpSpPr>
          <a:xfrm>
            <a:off x="381000" y="1143000"/>
            <a:ext cx="8191500" cy="2933700"/>
            <a:chOff x="-95250" y="-571500"/>
            <a:chExt cx="8191500" cy="2933700"/>
          </a:xfrm>
        </p:grpSpPr>
        <p:pic>
          <p:nvPicPr>
            <p:cNvPr id="171" name="Google Shape;17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95250" y="-38100"/>
              <a:ext cx="1333500" cy="8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9"/>
            <p:cNvSpPr txBox="1"/>
            <p:nvPr/>
          </p:nvSpPr>
          <p:spPr>
            <a:xfrm>
              <a:off x="0" y="0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USER</a:t>
              </a:r>
              <a:endPara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73" name="Google Shape;173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43000" y="323850"/>
              <a:ext cx="3810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24000" y="-38100"/>
              <a:ext cx="1524000" cy="8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9"/>
            <p:cNvSpPr txBox="1"/>
            <p:nvPr/>
          </p:nvSpPr>
          <p:spPr>
            <a:xfrm>
              <a:off x="1619250" y="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LOGIN AUTH</a:t>
              </a:r>
              <a:endPara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9B2BD"/>
                  </a:solidFill>
                  <a:latin typeface="Lato"/>
                  <a:ea typeface="Lato"/>
                  <a:cs typeface="Lato"/>
                  <a:sym typeface="Lato"/>
                </a:rPr>
                <a:t>RBAC System</a:t>
              </a:r>
              <a:endParaRPr b="0" sz="1000">
                <a:solidFill>
                  <a:srgbClr val="A9B2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76" name="Google Shape;176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52750" y="323850"/>
              <a:ext cx="3810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33750" y="-43815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9"/>
            <p:cNvSpPr txBox="1"/>
            <p:nvPr/>
          </p:nvSpPr>
          <p:spPr>
            <a:xfrm>
              <a:off x="3429000" y="-38100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FLASK APP</a:t>
              </a:r>
              <a:endPara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9B2BD"/>
                  </a:solidFill>
                  <a:latin typeface="Lato"/>
                  <a:ea typeface="Lato"/>
                  <a:cs typeface="Lato"/>
                  <a:sym typeface="Lato"/>
                </a:rPr>
                <a:t>Backend Core</a:t>
              </a:r>
              <a:endParaRPr b="0" sz="1000">
                <a:solidFill>
                  <a:srgbClr val="A9B2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79" name="Google Shape;179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24350" y="1143000"/>
              <a:ext cx="114300" cy="2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619500" y="1485900"/>
              <a:ext cx="1524000" cy="8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9"/>
            <p:cNvSpPr txBox="1"/>
            <p:nvPr/>
          </p:nvSpPr>
          <p:spPr>
            <a:xfrm>
              <a:off x="3714750" y="152400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SQLITE DB</a:t>
              </a:r>
              <a:endPara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9B2BD"/>
                  </a:solidFill>
                  <a:latin typeface="Lato"/>
                  <a:ea typeface="Lato"/>
                  <a:cs typeface="Lato"/>
                  <a:sym typeface="Lato"/>
                </a:rPr>
                <a:t>Persistent Storage</a:t>
              </a:r>
              <a:endParaRPr b="0" sz="1000">
                <a:solidFill>
                  <a:srgbClr val="A9B2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82" name="Google Shape;182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34000" y="323850"/>
              <a:ext cx="381000" cy="114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3" name="Google Shape;183;p19"/>
            <p:cNvGrpSpPr/>
            <p:nvPr/>
          </p:nvGrpSpPr>
          <p:grpSpPr>
            <a:xfrm>
              <a:off x="5810250" y="-571500"/>
              <a:ext cx="2286000" cy="2000250"/>
              <a:chOff x="0" y="0"/>
              <a:chExt cx="2286000" cy="2000250"/>
            </a:xfrm>
          </p:grpSpPr>
          <p:sp>
            <p:nvSpPr>
              <p:cNvPr id="184" name="Google Shape;184;p19"/>
              <p:cNvSpPr/>
              <p:nvPr/>
            </p:nvSpPr>
            <p:spPr>
              <a:xfrm>
                <a:off x="0" y="0"/>
                <a:ext cx="22860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1B212C"/>
              </a:solidFill>
              <a:ln cap="flat" cmpd="sng" w="9525">
                <a:solidFill>
                  <a:srgbClr val="3D85C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9"/>
              <p:cNvSpPr txBox="1"/>
              <p:nvPr/>
            </p:nvSpPr>
            <p:spPr>
              <a:xfrm>
                <a:off x="95250" y="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DASHBOARD ANALYTICS</a:t>
                </a:r>
                <a:endParaRPr b="1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>
                <a:off x="0" y="714375"/>
                <a:ext cx="22860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1B212C"/>
              </a:solidFill>
              <a:ln cap="flat" cmpd="sng" w="9525">
                <a:solidFill>
                  <a:srgbClr val="3D85C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9"/>
              <p:cNvSpPr txBox="1"/>
              <p:nvPr/>
            </p:nvSpPr>
            <p:spPr>
              <a:xfrm>
                <a:off x="95250" y="714375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FILE MANAGEMENT</a:t>
                </a:r>
                <a:endParaRPr b="1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>
                <a:off x="0" y="1428750"/>
                <a:ext cx="22860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1B212C"/>
              </a:solidFill>
              <a:ln cap="flat" cmpd="sng" w="9525">
                <a:solidFill>
                  <a:srgbClr val="3D85C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9"/>
              <p:cNvSpPr txBox="1"/>
              <p:nvPr/>
            </p:nvSpPr>
            <p:spPr>
              <a:xfrm>
                <a:off x="95250" y="142875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REPORTS &amp; VISUALS</a:t>
                </a:r>
                <a:endParaRPr b="1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title"/>
          </p:nvPr>
        </p:nvSpPr>
        <p:spPr>
          <a:xfrm>
            <a:off x="1297500" y="393750"/>
            <a:ext cx="70389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SCREENSHOTS </a:t>
            </a:r>
            <a:endParaRPr b="1" i="1"/>
          </a:p>
        </p:txBody>
      </p:sp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1297500" y="931650"/>
            <a:ext cx="70389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 Page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0" title="Screenshot 2026-05-23 1428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700" y="1471675"/>
            <a:ext cx="4981774" cy="34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1297500" y="393750"/>
            <a:ext cx="70389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Interface </a:t>
            </a:r>
            <a:endParaRPr/>
          </a:p>
        </p:txBody>
      </p:sp>
      <p:sp>
        <p:nvSpPr>
          <p:cNvPr id="202" name="Google Shape;202;p21"/>
          <p:cNvSpPr txBox="1"/>
          <p:nvPr>
            <p:ph idx="1" type="body"/>
          </p:nvPr>
        </p:nvSpPr>
        <p:spPr>
          <a:xfrm>
            <a:off x="1297500" y="1260550"/>
            <a:ext cx="7223400" cy="3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203" name="Google Shape;203;p21" title="Screenshot 2026-05-23 1435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200" y="1260550"/>
            <a:ext cx="5984749" cy="33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1297500" y="393750"/>
            <a:ext cx="70389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Charts 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1215450" y="1044925"/>
            <a:ext cx="7203000" cy="35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2" title="Screenshot 2026-05-23 1436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114975"/>
            <a:ext cx="5341326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1297500" y="393750"/>
            <a:ext cx="7038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Dark Mode UI </a:t>
            </a:r>
            <a:endParaRPr b="1" i="1"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1297500" y="1028400"/>
            <a:ext cx="7038900" cy="3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3" title="Screenshot 2026-05-23 1436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25" y="1127850"/>
            <a:ext cx="4020000" cy="33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 </a:t>
            </a:r>
            <a:endParaRPr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1213575" y="980050"/>
            <a:ext cx="70389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• AI-Based Contract Insights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Email Notification Integration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Digital Signature Support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PostgreSQL Database Integration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REST API Development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Cloud Storage Integration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Multi-User Collaboration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Real-Time Notifications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Advanced Role-Based Permissions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1297500" y="357800"/>
            <a:ext cx="70389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CONCLUSION </a:t>
            </a:r>
            <a:endParaRPr b="1" i="1"/>
          </a:p>
        </p:txBody>
      </p: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1297500" y="13497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SmartFlow Suite successfully provides a centralized and interactive enterprise contract management platform.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system simplifies agreement handling, improves monitoring efficiency, enhances visualization through analytics dashboards, and delivers a modern responsive user experience.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project demonstrates practical implementation of full-stack web development concepts using Flask, SQLite, Bootstrap, and Chart.js.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